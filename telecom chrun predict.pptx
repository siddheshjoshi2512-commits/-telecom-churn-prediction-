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5" r:id="rId7"/>
    <p:sldId id="260" r:id="rId8"/>
    <p:sldId id="261" r:id="rId9"/>
    <p:sldId id="262" r:id="rId10"/>
    <p:sldId id="263" r:id="rId11"/>
    <p:sldId id="268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6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77830-622A-5E5D-1662-625163213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5A732-9D01-CCCE-93E0-ED3D9BB73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7598A-2739-501B-377C-7A732D43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BD81-74DD-4CF0-A929-C965F5954DB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81774-2778-5E73-BECE-B3C7ADE5E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7D2F1-F3EB-11A7-9160-06F1CC44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8E11-82EA-4D0B-B344-AAA4940A5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867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6EDD-1CEC-E9F6-460E-20EA76DE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D3FCE-2DA4-A523-5016-0F2F8EF88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6605D-ECCD-A894-AD92-593215644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BD81-74DD-4CF0-A929-C965F5954DB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AF051-DFF7-C9DC-CD81-292F88616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E6E9-593F-D8D8-ED9F-2DDCDBF7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8E11-82EA-4D0B-B344-AAA4940A5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14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50316-BF54-4A84-EDDA-DC4BB336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B1F51-FAA7-CAC2-92C8-81FD330D0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AE637-544F-EC58-4875-848ED6729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BD81-74DD-4CF0-A929-C965F5954DB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E524B-5887-48F6-60E7-FF0671A1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3F372-39E5-4528-E088-4F7604AB6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8E11-82EA-4D0B-B344-AAA4940A5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068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27A06-840F-7FF4-9B14-7FF385EE7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18A9C-5380-439A-9A2C-05E302911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8744A-04C7-3826-6435-46431BD7F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19062-ACEE-B54E-03FC-D5A9ED49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BD81-74DD-4CF0-A929-C965F5954DB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11179-8E76-3FC1-311F-A67C5FB55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5DB6A-8853-746B-A3FC-2913D91C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8E11-82EA-4D0B-B344-AAA4940A5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31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29393-2E6A-3BC9-D00F-A1A32BBB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8E97C-1B59-7256-8805-5D35E2510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C4E96-2D8E-C05F-9844-10F4F2AB7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26D0B4-566C-71B0-F7B3-1F2BC5A21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539330-0768-0E87-1CED-075DCA0073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9BF541-BC8B-6898-631C-37873F0C5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BD81-74DD-4CF0-A929-C965F5954DB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15CB03-BC04-B3BA-ACA4-73B6696C5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9EFCAF-63C5-C743-AB7A-88352A4A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8E11-82EA-4D0B-B344-AAA4940A5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70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CE6F0-1E30-056F-B9F8-567245083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40D7E4-98A2-A23C-2B1D-DF88BF0F1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BD81-74DD-4CF0-A929-C965F5954DB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78017-56C9-4B55-5D92-1095F395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C9846-BE3B-2E7E-D32D-7F010244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8E11-82EA-4D0B-B344-AAA4940A5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58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0B50B5-0C83-FEC0-6457-1EE868370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BD81-74DD-4CF0-A929-C965F5954DB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D2EA66-F85E-55D8-770D-97A07581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715B0-139B-917F-106D-8C51AB7D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8E11-82EA-4D0B-B344-AAA4940A5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56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EBCD-FB25-0F68-2FBD-3E084FB91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50C83-F11A-6EAC-FAC3-4022C4B84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C0FDD-5BCC-E3CF-12D6-70476A050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6E3D4-4DF0-7D96-1FA2-977ED2C3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BD81-74DD-4CF0-A929-C965F5954DB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3B849-A2D7-9C31-914A-27D1EE20C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50258-92B8-38F7-EE7F-406F5163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8E11-82EA-4D0B-B344-AAA4940A5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72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45351-B647-9FF9-26E2-D1799B7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9EA5C-80D3-E828-8F26-53F294EE4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5224A-ED73-CC8B-46DE-AAD27AEF4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BF324-B4BA-773C-5023-A272229D9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BD81-74DD-4CF0-A929-C965F5954DB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5CAE0-A4E1-A2FB-1095-69DFF2A44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72960-928A-B087-FB3C-E73B0FF1F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8E11-82EA-4D0B-B344-AAA4940A5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364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6F639-A293-B544-94E3-38CB61213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0C5EF-8DEA-0442-1A91-865B7A599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C00B2-7867-0883-774C-608403DA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BD81-74DD-4CF0-A929-C965F5954DB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78482-975E-FF0B-6908-59569655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4BCEE-99D7-C91A-B7EF-BDD68E48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8E11-82EA-4D0B-B344-AAA4940A5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35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52DF1A-2E27-7BB9-42AA-72796849F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318B1-D3A5-FA42-9ED4-37CC29752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A770C-BDD1-76F4-2488-CC5B3E03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BD81-74DD-4CF0-A929-C965F5954DB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22C3-0B8E-D688-9D0C-A32061FA4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AA86F-AFF2-F52E-57C7-F241E91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8E11-82EA-4D0B-B344-AAA4940A5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306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FF14F0-BC2F-B5D1-CFC9-F835D1C1A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0641F-788E-88D7-1D6D-BEDF44889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81E23-9546-4D3A-0A32-B4A5B1812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BBD81-74DD-4CF0-A929-C965F5954DB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B2248-7C38-8D67-19BC-5439BE09AC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A0AC6-F5D6-88C3-CF8B-703310206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3B8E11-82EA-4D0B-B344-AAA4940A5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19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271F-5AC1-F634-66A6-E48837EF2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313" y="1459832"/>
            <a:ext cx="7737908" cy="3320715"/>
          </a:xfrm>
        </p:spPr>
        <p:txBody>
          <a:bodyPr>
            <a:normAutofit/>
          </a:bodyPr>
          <a:lstStyle/>
          <a:p>
            <a:pPr algn="just"/>
            <a:r>
              <a:rPr lang="en-US" sz="5400" b="0" i="0" u="none" dirty="0">
                <a:latin typeface="Plus Jakarta Sans ExtraBold"/>
              </a:rPr>
              <a:t>Predictive &amp; Behavioral</a:t>
            </a:r>
            <a:r>
              <a:rPr lang="en-US" sz="5400" dirty="0"/>
              <a:t>
</a:t>
            </a:r>
            <a:r>
              <a:rPr lang="en-US" sz="5400" b="0" i="0" u="none" dirty="0">
                <a:latin typeface="Plus Jakarta Sans ExtraBold"/>
              </a:rPr>
              <a:t>Telecom Churn Framework</a:t>
            </a:r>
            <a:br>
              <a:rPr lang="en-US" sz="5400" b="0" i="0" u="none" dirty="0">
                <a:solidFill>
                  <a:srgbClr val="F1F5F9"/>
                </a:solidFill>
                <a:latin typeface="Plus Jakarta Sans ExtraBold"/>
              </a:rPr>
            </a:br>
            <a:endParaRPr lang="en-IN" sz="5400" dirty="0">
              <a:latin typeface="Romans time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22605-6B02-136B-1F29-9F89A4EEA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432" y="4219074"/>
            <a:ext cx="10122568" cy="1038726"/>
          </a:xfrm>
        </p:spPr>
        <p:txBody>
          <a:bodyPr/>
          <a:lstStyle/>
          <a:p>
            <a:pPr algn="just"/>
            <a:r>
              <a:rPr lang="en-IN" dirty="0"/>
              <a:t>To predict the  behaviour  of  customer  who are subscribe </a:t>
            </a:r>
          </a:p>
        </p:txBody>
      </p:sp>
    </p:spTree>
    <p:extLst>
      <p:ext uri="{BB962C8B-B14F-4D97-AF65-F5344CB8AC3E}">
        <p14:creationId xmlns:p14="http://schemas.microsoft.com/office/powerpoint/2010/main" val="2019259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CFCAC-4476-B2E1-4BEB-334FC25B9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304"/>
            <a:ext cx="10515600" cy="1325563"/>
          </a:xfrm>
        </p:spPr>
        <p:txBody>
          <a:bodyPr/>
          <a:lstStyle/>
          <a:p>
            <a:r>
              <a:rPr lang="en-IN" dirty="0"/>
              <a:t>STEPS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53C69-0EBB-C68D-ADD8-80397C6AE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1937"/>
            <a:ext cx="10515600" cy="3915026"/>
          </a:xfrm>
        </p:spPr>
        <p:txBody>
          <a:bodyPr/>
          <a:lstStyle/>
          <a:p>
            <a:r>
              <a:rPr lang="en-IN" dirty="0"/>
              <a:t>Data Collection:</a:t>
            </a:r>
          </a:p>
          <a:p>
            <a:r>
              <a:rPr lang="en-IN" dirty="0"/>
              <a:t>Data Cleaning:</a:t>
            </a:r>
          </a:p>
          <a:p>
            <a:r>
              <a:rPr lang="en-IN" dirty="0"/>
              <a:t>Data Analysis:</a:t>
            </a:r>
          </a:p>
          <a:p>
            <a:r>
              <a:rPr lang="en-IN" dirty="0"/>
              <a:t>Model Building:</a:t>
            </a:r>
          </a:p>
          <a:p>
            <a:r>
              <a:rPr lang="en-IN" dirty="0"/>
              <a:t>Model Testing :</a:t>
            </a:r>
          </a:p>
          <a:p>
            <a:r>
              <a:rPr lang="en-IN" dirty="0"/>
              <a:t>Model Evaluation:</a:t>
            </a:r>
          </a:p>
        </p:txBody>
      </p:sp>
    </p:spTree>
    <p:extLst>
      <p:ext uri="{BB962C8B-B14F-4D97-AF65-F5344CB8AC3E}">
        <p14:creationId xmlns:p14="http://schemas.microsoft.com/office/powerpoint/2010/main" val="2318946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5556-79CC-4837-15E2-6F1C14A0C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dirty="0"/>
              <a:t>Dataset for the model:-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3D6C0-557C-7AA1-2B20-0A9C20AB2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17558"/>
            <a:ext cx="10186737" cy="4539915"/>
          </a:xfrm>
        </p:spPr>
        <p:txBody>
          <a:bodyPr/>
          <a:lstStyle/>
          <a:p>
            <a:r>
              <a:rPr lang="en-IN" dirty="0"/>
              <a:t>The dataset for the model was taken from the Kaggle.com website.</a:t>
            </a:r>
          </a:p>
          <a:p>
            <a:pPr algn="just"/>
            <a:r>
              <a:rPr lang="en-IN" dirty="0"/>
              <a:t>The dataset tell about the customer’s who has taken the subscription of a telecom company.</a:t>
            </a:r>
          </a:p>
          <a:p>
            <a:pPr algn="just"/>
            <a:r>
              <a:rPr lang="en-US" dirty="0">
                <a:solidFill>
                  <a:srgbClr val="334155"/>
                </a:solidFill>
                <a:latin typeface="Inter"/>
              </a:rPr>
              <a:t>The predictive analytical modeling dataset is extracted directly from the standardized Kaggle repository, distributed in a raw comma-separated value (CSV) schema.</a:t>
            </a:r>
          </a:p>
          <a:p>
            <a:pPr algn="just"/>
            <a:r>
              <a:rPr lang="en-US" dirty="0">
                <a:solidFill>
                  <a:srgbClr val="334155"/>
                </a:solidFill>
                <a:latin typeface="Inter"/>
              </a:rPr>
              <a:t>The set  consist of 100 customer and their behavior 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55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5556"/>
            <a:ext cx="2524125" cy="22907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25" y="2545556"/>
            <a:ext cx="2524125" cy="22907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545556"/>
            <a:ext cx="2524125" cy="22907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875" y="2545556"/>
            <a:ext cx="2524125" cy="22907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2783681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0125" y="3393281"/>
            <a:ext cx="215026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669506"/>
            <a:ext cx="20478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Enables structural ingestion of the CSV dataset, index mapping, schema alignment, and initial cleaning of categorical labels.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2783681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14750" y="3393281"/>
            <a:ext cx="215026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4750" y="3669506"/>
            <a:ext cx="2047875" cy="928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Provides fast array computing for processing mathematical transformations, vector calculations, and standard matrix modeling inputs.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2783681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29375" y="3393281"/>
            <a:ext cx="215026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Matplotlib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669506"/>
            <a:ext cx="2047875" cy="928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Generates distribution visualizations, correlation metrics heatmaps, and diagnostic feature-importance plots for model interpretability.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783681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0" y="3393281"/>
            <a:ext cx="215026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669506"/>
            <a:ext cx="2047875" cy="928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Acts as the operational core for preprocessing scales, class-weight balancing, cross-validations, and model classification engines.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475" y="2917031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1912" y="2917031"/>
            <a:ext cx="1428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2917031"/>
            <a:ext cx="1714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3537" y="2917031"/>
            <a:ext cx="23812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 dirty="0">
                <a:solidFill>
                  <a:srgbClr val="0F172A"/>
                </a:solidFill>
                <a:latin typeface="Plus Jakarta Sans ExtraBold"/>
              </a:rPr>
              <a:t>Core Analytical Tech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5375" y="2814786"/>
            <a:ext cx="4810125" cy="674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Handling Nulls &amp; Outliers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Imputing sparse missing cells in the critical 'TotalCharges' Continuous Vector utilizing localized column median values to prevent data skew.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19875" y="2814786"/>
            <a:ext cx="4810125" cy="674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Categorical Vector Encoding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Transforming binary text values (e.g., Partner, Dependents) to [0, 1] formats, and deploying One-Hot Encoding on multi-categorical features.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3679477"/>
            <a:ext cx="4810125" cy="887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Standard Feature Scaling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Applying Scikit-Learn's robust StandardScaler algorithms to continuous parameters ('tenure', 'MonthlyCharges') to resolve wide margin scaling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9875" y="3679477"/>
            <a:ext cx="4810125" cy="887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Class Imbalance Correction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Evaluating the skewed 26.5% baseline churn ratio. Rectifying variance bottlenecks via SMOTE oversampling to stabilize classifier margins.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38598"/>
            <a:ext cx="17145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38598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703290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703290"/>
            <a:ext cx="219075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lus Jakarta Sans ExtraBold"/>
              </a:rPr>
              <a:t>Data Preprocessing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D0EB-98B9-8A3D-00F0-3E2DC6E2D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221" y="2807368"/>
            <a:ext cx="7218947" cy="1058779"/>
          </a:xfrm>
        </p:spPr>
        <p:txBody>
          <a:bodyPr>
            <a:normAutofit fontScale="90000"/>
          </a:bodyPr>
          <a:lstStyle/>
          <a:p>
            <a:pPr algn="just"/>
            <a:r>
              <a:rPr lang="en-IN" dirty="0">
                <a:latin typeface="Plus Jakarta Sans ExtraBold"/>
              </a:rPr>
              <a:t>       The   Dual-Model  Framework</a:t>
            </a:r>
            <a:br>
              <a:rPr lang="en-IN" dirty="0">
                <a:latin typeface="Plus Jakarta Sans ExtraBold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BF1C0-08CD-AD20-0C6A-ED389689F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3832" y="3866147"/>
            <a:ext cx="8369968" cy="2310815"/>
          </a:xfrm>
        </p:spPr>
        <p:txBody>
          <a:bodyPr/>
          <a:lstStyle/>
          <a:p>
            <a:r>
              <a:rPr lang="en-IN" dirty="0"/>
              <a:t>Deploying a paired software system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2286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C06F0-F0EB-D849-FFFC-6F9FE4A7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853" y="1347537"/>
            <a:ext cx="10647947" cy="34315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F172A"/>
                </a:solidFill>
                <a:latin typeface="Plus Jakarta Sans ExtraBold"/>
              </a:rPr>
              <a:t>Model 1: Churn Predictive Engine</a:t>
            </a:r>
            <a:br>
              <a:rPr lang="en-US" dirty="0">
                <a:solidFill>
                  <a:srgbClr val="0F172A"/>
                </a:solidFill>
                <a:latin typeface="Plus Jakarta Sans ExtraBold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01B13-631C-F0E2-563A-FB44BF1D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853" y="2101515"/>
            <a:ext cx="10812379" cy="4315327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334155"/>
                </a:solidFill>
                <a:latin typeface="Inter"/>
              </a:rPr>
              <a:t>The primary predictive engine is engineered using advanced ensemble classifiers to achieve high recall on at-risk subscribers.</a:t>
            </a:r>
          </a:p>
          <a:p>
            <a:r>
              <a:rPr lang="en-US" dirty="0">
                <a:solidFill>
                  <a:srgbClr val="334155"/>
                </a:solidFill>
                <a:latin typeface="Inter"/>
              </a:rPr>
              <a:t>By using </a:t>
            </a:r>
            <a:r>
              <a:rPr lang="en-US" b="1" dirty="0">
                <a:solidFill>
                  <a:srgbClr val="334155"/>
                </a:solidFill>
                <a:latin typeface="Inter"/>
              </a:rPr>
              <a:t>Scikit-Learn's Ensemble APIs</a:t>
            </a:r>
            <a:r>
              <a:rPr lang="en-US" dirty="0">
                <a:solidFill>
                  <a:srgbClr val="334155"/>
                </a:solidFill>
                <a:latin typeface="Inter"/>
              </a:rPr>
              <a:t>, this model outputs a real-time probability score for every customer record.</a:t>
            </a:r>
          </a:p>
          <a:p>
            <a:r>
              <a:rPr lang="en-US" dirty="0">
                <a:solidFill>
                  <a:srgbClr val="334155"/>
                </a:solidFill>
                <a:latin typeface="Inter"/>
              </a:rPr>
              <a:t>The algorithm is tuned specifically to minimize False Negatives. This guarantees that customer accounts matching complex risk indicators are identified and surfaced before they reach final service termination.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733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9A13-30B7-5DE3-D487-56B3666A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926" y="1523999"/>
            <a:ext cx="5743074" cy="673767"/>
          </a:xfrm>
        </p:spPr>
        <p:txBody>
          <a:bodyPr>
            <a:normAutofit fontScale="90000"/>
          </a:bodyPr>
          <a:lstStyle/>
          <a:p>
            <a:pPr algn="just"/>
            <a:r>
              <a:rPr lang="en-IN" dirty="0">
                <a:solidFill>
                  <a:srgbClr val="0F172A"/>
                </a:solidFill>
                <a:latin typeface="Plus Jakarta Sans ExtraBold"/>
              </a:rPr>
              <a:t> [MP]Model 2: Diagnostics</a:t>
            </a:r>
            <a:br>
              <a:rPr lang="en-IN" dirty="0">
                <a:solidFill>
                  <a:srgbClr val="0F172A"/>
                </a:solidFill>
                <a:latin typeface="Plus Jakarta Sans ExtraBold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3C3F2-22D6-F552-F9B6-B40A2F6BE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432" y="2197767"/>
            <a:ext cx="10972800" cy="4283244"/>
          </a:xfrm>
        </p:spPr>
        <p:txBody>
          <a:bodyPr/>
          <a:lstStyle/>
          <a:p>
            <a:pPr algn="just"/>
            <a:r>
              <a:rPr lang="en-IN" b="1" dirty="0">
                <a:solidFill>
                  <a:srgbClr val="0F172A"/>
                </a:solidFill>
                <a:latin typeface="Inter"/>
              </a:rPr>
              <a:t>Accuracy &amp; Customer Behaviour Analyzer</a:t>
            </a:r>
          </a:p>
          <a:p>
            <a:r>
              <a:rPr lang="en-US" dirty="0">
                <a:solidFill>
                  <a:srgbClr val="334155"/>
                </a:solidFill>
                <a:latin typeface="Inter"/>
              </a:rPr>
              <a:t>While Model 1 calculates raw probabilities, Model 2 is designed specifically to analyze features and explain customer behavior.</a:t>
            </a:r>
          </a:p>
          <a:p>
            <a:pPr algn="just"/>
            <a:r>
              <a:rPr lang="en-US" dirty="0">
                <a:solidFill>
                  <a:srgbClr val="334155"/>
                </a:solidFill>
                <a:latin typeface="Inter"/>
              </a:rPr>
              <a:t>By implementing decision-tree structures and feature weight maps, Model 2 extracts the underlying behavioral factors that lead to churn (such as contract expiration or internet type changes).</a:t>
            </a:r>
          </a:p>
          <a:p>
            <a:r>
              <a:rPr lang="en-US" dirty="0">
                <a:solidFill>
                  <a:srgbClr val="334155"/>
                </a:solidFill>
                <a:latin typeface="Inter"/>
              </a:rPr>
              <a:t>This diagnostic approach allows the business to see not only which customers are likely to leave, but why they are leaving.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39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76011-9DD1-5F94-A563-5CE353274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95" y="914400"/>
            <a:ext cx="10631905" cy="776288"/>
          </a:xfrm>
        </p:spPr>
        <p:txBody>
          <a:bodyPr>
            <a:normAutofit fontScale="90000"/>
          </a:bodyPr>
          <a:lstStyle/>
          <a:p>
            <a:br>
              <a:rPr lang="en-IN" dirty="0">
                <a:solidFill>
                  <a:srgbClr val="0F172A"/>
                </a:solidFill>
                <a:latin typeface="Plus Jakarta Sans ExtraBold"/>
              </a:rPr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2DDD661-8FD6-A431-59A0-D3652F650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10" y="1235242"/>
            <a:ext cx="10574583" cy="5300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739442-1058-EC18-4C9D-A7A5E89E545F}"/>
              </a:ext>
            </a:extLst>
          </p:cNvPr>
          <p:cNvSpPr txBox="1"/>
          <p:nvPr/>
        </p:nvSpPr>
        <p:spPr>
          <a:xfrm>
            <a:off x="721895" y="304801"/>
            <a:ext cx="8534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400" b="0" i="0" u="none" dirty="0">
                <a:solidFill>
                  <a:srgbClr val="0F172A"/>
                </a:solidFill>
                <a:latin typeface="Plus Jakarta Sans ExtraBold"/>
              </a:rPr>
              <a:t>Dual-Model Evaluation Matrix</a:t>
            </a:r>
          </a:p>
        </p:txBody>
      </p:sp>
    </p:spTree>
    <p:extLst>
      <p:ext uri="{BB962C8B-B14F-4D97-AF65-F5344CB8AC3E}">
        <p14:creationId xmlns:p14="http://schemas.microsoft.com/office/powerpoint/2010/main" val="4165601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C216-462A-B747-0C61-FF53AADBD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84" y="365126"/>
            <a:ext cx="10712116" cy="998454"/>
          </a:xfrm>
        </p:spPr>
        <p:txBody>
          <a:bodyPr/>
          <a:lstStyle/>
          <a:p>
            <a:r>
              <a:rPr lang="en-IN">
                <a:solidFill>
                  <a:srgbClr val="0F172A"/>
                </a:solidFill>
                <a:latin typeface="Plus Jakarta Sans ExtraBold"/>
              </a:rPr>
              <a:t>Dual-Model Evaluation Matrix</a:t>
            </a:r>
            <a:endParaRPr lang="en-IN" dirty="0">
              <a:solidFill>
                <a:srgbClr val="0F172A"/>
              </a:solidFill>
              <a:latin typeface="Plus Jakarta Sans ExtraBold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95EF7B-4F1D-8A83-B7B0-E48F1DB4B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220066"/>
            <a:ext cx="8349754" cy="527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991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09875"/>
            <a:ext cx="5191125" cy="17621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809875"/>
            <a:ext cx="5191125" cy="1762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62075" y="3152775"/>
            <a:ext cx="4460557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1. Contract Stabilization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" y="3543300"/>
            <a:ext cx="4505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Address the Month-to-Month contract issue by identifying high-risk accounts and offering them exclusive discounts to transition to stable 1-Year or 2-Year plans.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86575" y="3152775"/>
            <a:ext cx="4410551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2. Technical Feature Bundles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543300"/>
            <a:ext cx="4505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Improve customer retention on expensive Fiber Optic accounts by bundling online security and tech support add-ons to increase service value and build digital loyalty.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3171825"/>
            <a:ext cx="1619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3171825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8333874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 u="none" dirty="0">
                <a:solidFill>
                  <a:srgbClr val="0F172A"/>
                </a:solidFill>
                <a:latin typeface="Plus Jakarta Sans ExtraBold"/>
              </a:rPr>
              <a:t>Proactive Retention Playbook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D3BF9-4B1C-3486-40ED-26D32BC08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832" y="365124"/>
            <a:ext cx="6845967" cy="6292350"/>
          </a:xfrm>
        </p:spPr>
        <p:txBody>
          <a:bodyPr/>
          <a:lstStyle/>
          <a:p>
            <a:pPr algn="just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0287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534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Inter</vt:lpstr>
      <vt:lpstr>Plus Jakarta Sans ExtraBold</vt:lpstr>
      <vt:lpstr>Romans times</vt:lpstr>
      <vt:lpstr>Office Theme</vt:lpstr>
      <vt:lpstr>Predictive &amp; Behavioral
Telecom Churn Framework </vt:lpstr>
      <vt:lpstr>STEPS :-</vt:lpstr>
      <vt:lpstr>Dataset for the model:-</vt:lpstr>
      <vt:lpstr>PowerPoint Presentation</vt:lpstr>
      <vt:lpstr>PowerPoint Presentation</vt:lpstr>
      <vt:lpstr>       The   Dual-Model  Framework </vt:lpstr>
      <vt:lpstr>Model 1: Churn Predictive Engine </vt:lpstr>
      <vt:lpstr> [MP]Model 2: Diagnostics </vt:lpstr>
      <vt:lpstr> </vt:lpstr>
      <vt:lpstr>Dual-Model Evaluation Matrix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Siddhesh Joshi</dc:creator>
  <cp:lastModifiedBy>Siddhesh Joshi</cp:lastModifiedBy>
  <cp:revision>1</cp:revision>
  <dcterms:created xsi:type="dcterms:W3CDTF">2026-07-18T12:20:45Z</dcterms:created>
  <dcterms:modified xsi:type="dcterms:W3CDTF">2026-07-18T13:17:49Z</dcterms:modified>
</cp:coreProperties>
</file>